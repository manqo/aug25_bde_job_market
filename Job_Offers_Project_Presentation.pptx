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57" r:id="rId4"/>
    <p:sldId id="266" r:id="rId5"/>
    <p:sldId id="263" r:id="rId6"/>
    <p:sldId id="258" r:id="rId7"/>
    <p:sldId id="264" r:id="rId8"/>
    <p:sldId id="259" r:id="rId9"/>
    <p:sldId id="275" r:id="rId10"/>
    <p:sldId id="260" r:id="rId11"/>
    <p:sldId id="267" r:id="rId12"/>
    <p:sldId id="261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62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5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Job Offers Data Processing and Analysis System (Muse API)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ETL, </a:t>
            </a:r>
            <a:r>
              <a:rPr lang="pl-PL" dirty="0"/>
              <a:t>job skills extraction from text</a:t>
            </a:r>
            <a:r>
              <a:rPr dirty="0"/>
              <a:t>, search and visualization using </a:t>
            </a:r>
            <a:r>
              <a:rPr dirty="0" err="1"/>
              <a:t>FastAPI</a:t>
            </a:r>
            <a:r>
              <a:rPr dirty="0"/>
              <a:t>, Airflow, MongoDB, Elasticsearch, PostgreSQL, Dash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D0F04-779C-7A7B-DB0E-3A9408B03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BFDD5-0B0B-9EE6-6C96-71D6650C4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Collect data with job offers and skills</a:t>
            </a:r>
          </a:p>
          <a:p>
            <a:r>
              <a:rPr lang="pl-PL" dirty="0"/>
              <a:t>Data lake / staging</a:t>
            </a:r>
          </a:p>
          <a:p>
            <a:r>
              <a:rPr lang="pl-PL" dirty="0"/>
              <a:t>Analyze offers – skills extraction from job descriptions (hard and soft skills)</a:t>
            </a:r>
          </a:p>
          <a:p>
            <a:r>
              <a:rPr lang="pl-PL" dirty="0"/>
              <a:t>Identyfication of top recruiting sectors</a:t>
            </a:r>
          </a:p>
          <a:p>
            <a:r>
              <a:rPr lang="pl-PL" dirty="0"/>
              <a:t>Identyfication of top recruiting companies</a:t>
            </a:r>
          </a:p>
          <a:p>
            <a:r>
              <a:rPr lang="pl-PL" dirty="0"/>
              <a:t>Search for dream job – location, skill, company, sector, title</a:t>
            </a:r>
          </a:p>
          <a:p>
            <a:endParaRPr lang="pl-PL" dirty="0"/>
          </a:p>
          <a:p>
            <a:endParaRPr lang="pl-PL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546474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Component Communication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7 Docker containers</a:t>
            </a:r>
            <a:r>
              <a:rPr lang="pl-PL" dirty="0"/>
              <a:t>: </a:t>
            </a:r>
            <a:r>
              <a:rPr dirty="0" err="1"/>
              <a:t>FastAPI</a:t>
            </a:r>
            <a:r>
              <a:rPr dirty="0"/>
              <a:t>, Airflow</a:t>
            </a:r>
            <a:r>
              <a:rPr lang="pl-PL" dirty="0"/>
              <a:t>, Airflow PostgreSQL</a:t>
            </a:r>
            <a:r>
              <a:rPr dirty="0"/>
              <a:t>, MongoDB, PostgreSQL, Elasticsearch, Dash</a:t>
            </a:r>
          </a:p>
          <a:p>
            <a:r>
              <a:rPr dirty="0" err="1"/>
              <a:t>FastAPI</a:t>
            </a:r>
            <a:r>
              <a:rPr dirty="0"/>
              <a:t> as the main orchestrator</a:t>
            </a:r>
          </a:p>
          <a:p>
            <a:r>
              <a:rPr dirty="0"/>
              <a:t>Airflow triggers pipelines via API</a:t>
            </a:r>
          </a:p>
          <a:p>
            <a:r>
              <a:rPr dirty="0"/>
              <a:t>Dash fetches data from PostgreSQL and Elasticsearch via </a:t>
            </a:r>
            <a:r>
              <a:rPr dirty="0" err="1"/>
              <a:t>FastAPI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123728E7-F29B-B6A1-3000-C471DCD149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673541"/>
            <a:ext cx="8229600" cy="2379280"/>
          </a:xfrm>
        </p:spPr>
      </p:pic>
    </p:spTree>
    <p:extLst>
      <p:ext uri="{BB962C8B-B14F-4D97-AF65-F5344CB8AC3E}">
        <p14:creationId xmlns:p14="http://schemas.microsoft.com/office/powerpoint/2010/main" val="2761013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58986-393C-20B4-B2FD-4B06B5FB1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Communication between components</a:t>
            </a:r>
          </a:p>
        </p:txBody>
      </p:sp>
      <p:pic>
        <p:nvPicPr>
          <p:cNvPr id="5" name="Content Placeholder 4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7AEE6D48-2F77-40C7-A5C6-EFEF643A90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3987" y="2143919"/>
            <a:ext cx="6296025" cy="3438525"/>
          </a:xfrm>
        </p:spPr>
      </p:pic>
    </p:spTree>
    <p:extLst>
      <p:ext uri="{BB962C8B-B14F-4D97-AF65-F5344CB8AC3E}">
        <p14:creationId xmlns:p14="http://schemas.microsoft.com/office/powerpoint/2010/main" val="2409196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Flow in the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Fetch job offers from Muse API</a:t>
            </a:r>
          </a:p>
          <a:p>
            <a:r>
              <a:rPr dirty="0"/>
              <a:t>Store raw data in MongoDB</a:t>
            </a:r>
            <a:r>
              <a:rPr lang="pl-PL" dirty="0"/>
              <a:t> (JSON)</a:t>
            </a:r>
            <a:endParaRPr dirty="0"/>
          </a:p>
          <a:p>
            <a:r>
              <a:rPr dirty="0"/>
              <a:t>Clean</a:t>
            </a:r>
            <a:r>
              <a:rPr lang="pl-PL" dirty="0"/>
              <a:t> descriptions, shell out skills from job descriptions, enrich data</a:t>
            </a:r>
          </a:p>
          <a:p>
            <a:r>
              <a:rPr dirty="0"/>
              <a:t>Use Elasticsearch for advanced enrichment</a:t>
            </a:r>
          </a:p>
          <a:p>
            <a:r>
              <a:rPr dirty="0"/>
              <a:t>Store final data in PostgreSQL and Elasticsearch</a:t>
            </a:r>
          </a:p>
          <a:p>
            <a:r>
              <a:rPr dirty="0"/>
              <a:t>Data accessed via Dash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ata flow&#10;&#10;AI-generated content may be incorrect.">
            <a:extLst>
              <a:ext uri="{FF2B5EF4-FFF2-40B4-BE49-F238E27FC236}">
                <a16:creationId xmlns:a16="http://schemas.microsoft.com/office/drawing/2014/main" id="{6C0C449F-6B7B-10C7-8A9B-2AAA125ADE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1988" y="301558"/>
            <a:ext cx="5611054" cy="5824606"/>
          </a:xfrm>
        </p:spPr>
      </p:pic>
    </p:spTree>
    <p:extLst>
      <p:ext uri="{BB962C8B-B14F-4D97-AF65-F5344CB8AC3E}">
        <p14:creationId xmlns:p14="http://schemas.microsoft.com/office/powerpoint/2010/main" val="2577571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Job Data Enrichment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• </a:t>
            </a:r>
            <a:r>
              <a:rPr lang="pl-PL" dirty="0"/>
              <a:t>Skills files per category</a:t>
            </a:r>
          </a:p>
          <a:p>
            <a:pPr marL="0" indent="0">
              <a:buNone/>
            </a:pPr>
            <a:r>
              <a:rPr lang="pl-PL" dirty="0"/>
              <a:t>• </a:t>
            </a:r>
            <a:r>
              <a:rPr dirty="0"/>
              <a:t>HTML cleaning + basic enrichment (</a:t>
            </a:r>
            <a:r>
              <a:rPr lang="pl-PL" dirty="0"/>
              <a:t>regex – pure Python</a:t>
            </a:r>
            <a:r>
              <a:rPr dirty="0"/>
              <a:t>)</a:t>
            </a:r>
          </a:p>
          <a:p>
            <a:pPr marL="0" indent="0">
              <a:buNone/>
            </a:pPr>
            <a:r>
              <a:rPr lang="pl-PL" dirty="0"/>
              <a:t>• </a:t>
            </a:r>
            <a:r>
              <a:rPr dirty="0"/>
              <a:t>Elasticsearch to find </a:t>
            </a:r>
            <a:r>
              <a:rPr lang="pl-PL" dirty="0"/>
              <a:t>missing skills (fuzzy search, stemming, multimatch, batching)</a:t>
            </a:r>
          </a:p>
          <a:p>
            <a:pPr marL="0" indent="0">
              <a:buNone/>
            </a:pPr>
            <a:r>
              <a:rPr dirty="0"/>
              <a:t>• Enrich job documents with search results</a:t>
            </a:r>
            <a:r>
              <a:rPr lang="pl-PL" dirty="0"/>
              <a:t> (ES + regex)</a:t>
            </a:r>
            <a:endParaRPr dirty="0"/>
          </a:p>
          <a:p>
            <a:pPr marL="0" indent="0">
              <a:buNone/>
            </a:pPr>
            <a:r>
              <a:rPr dirty="0"/>
              <a:t>• Store enriched data in PostgreSQL and Elasticsearch (search index)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D4237-21DB-614D-6078-081D9935D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Elasticsearch enrichment process</a:t>
            </a:r>
          </a:p>
        </p:txBody>
      </p:sp>
      <p:pic>
        <p:nvPicPr>
          <p:cNvPr id="5" name="Content Placeholder 4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A1A60F98-4440-61CD-807A-4076766A3F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780163"/>
            <a:ext cx="8229600" cy="3959156"/>
          </a:xfrm>
        </p:spPr>
      </p:pic>
    </p:spTree>
    <p:extLst>
      <p:ext uri="{BB962C8B-B14F-4D97-AF65-F5344CB8AC3E}">
        <p14:creationId xmlns:p14="http://schemas.microsoft.com/office/powerpoint/2010/main" val="1568453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Automation with Airflow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Airflow manages task execution order (</a:t>
            </a:r>
            <a:r>
              <a:rPr dirty="0" err="1"/>
              <a:t>FastAPI</a:t>
            </a:r>
            <a:r>
              <a:rPr dirty="0"/>
              <a:t> endpoints)</a:t>
            </a:r>
          </a:p>
          <a:p>
            <a:r>
              <a:rPr dirty="0"/>
              <a:t>Pipeline handles full flow: fetch → clean → enrich → load</a:t>
            </a:r>
          </a:p>
          <a:p>
            <a:r>
              <a:rPr dirty="0"/>
              <a:t>Implemented as DAG with </a:t>
            </a:r>
            <a:r>
              <a:rPr lang="pl-PL" dirty="0"/>
              <a:t>8</a:t>
            </a:r>
            <a:r>
              <a:rPr dirty="0"/>
              <a:t> </a:t>
            </a:r>
            <a:r>
              <a:rPr lang="pl-PL" dirty="0"/>
              <a:t>tasks 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7F8B378-CC30-EDFF-C77F-80C5814B97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595336"/>
            <a:ext cx="8229600" cy="3893661"/>
          </a:xfrm>
        </p:spPr>
      </p:pic>
    </p:spTree>
    <p:extLst>
      <p:ext uri="{BB962C8B-B14F-4D97-AF65-F5344CB8AC3E}">
        <p14:creationId xmlns:p14="http://schemas.microsoft.com/office/powerpoint/2010/main" val="1891526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 – Interactive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Dash displays charts and statistics from PostgreSQL</a:t>
            </a:r>
            <a:r>
              <a:rPr lang="pl-PL" dirty="0"/>
              <a:t> – job offers aggregations</a:t>
            </a:r>
            <a:endParaRPr dirty="0"/>
          </a:p>
          <a:p>
            <a:r>
              <a:rPr dirty="0"/>
              <a:t>Search field powered by Elasticsearch</a:t>
            </a:r>
            <a:r>
              <a:rPr lang="pl-PL" dirty="0"/>
              <a:t> – search through title, skills (soft and hard), locations, descriptions, company name, job title</a:t>
            </a:r>
            <a:endParaRPr dirty="0"/>
          </a:p>
          <a:p>
            <a:r>
              <a:rPr dirty="0" err="1"/>
              <a:t>FastAPI</a:t>
            </a:r>
            <a:r>
              <a:rPr dirty="0"/>
              <a:t> provides endpoints for </a:t>
            </a:r>
            <a:r>
              <a:rPr lang="pl-PL" dirty="0"/>
              <a:t>daily</a:t>
            </a:r>
            <a:r>
              <a:rPr dirty="0"/>
              <a:t> data access</a:t>
            </a:r>
            <a:endParaRPr lang="pl-PL" dirty="0"/>
          </a:p>
          <a:p>
            <a:r>
              <a:rPr lang="pl-PL" dirty="0"/>
              <a:t>Airflow ensures daily job offers ingestion</a:t>
            </a:r>
          </a:p>
          <a:p>
            <a:pPr marL="457200" lvl="1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18B29-2820-BE15-0F6C-9B1C0DE7E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879404" cy="668945"/>
          </a:xfrm>
        </p:spPr>
        <p:txBody>
          <a:bodyPr>
            <a:normAutofit fontScale="90000"/>
          </a:bodyPr>
          <a:lstStyle/>
          <a:p>
            <a:r>
              <a:rPr lang="pl-PL" dirty="0"/>
              <a:t>Job ofers - daily</a:t>
            </a:r>
          </a:p>
        </p:txBody>
      </p:sp>
      <p:pic>
        <p:nvPicPr>
          <p:cNvPr id="5" name="Content Placeholder 4" descr="A graph on a white background&#10;&#10;AI-generated content may be incorrect.">
            <a:extLst>
              <a:ext uri="{FF2B5EF4-FFF2-40B4-BE49-F238E27FC236}">
                <a16:creationId xmlns:a16="http://schemas.microsoft.com/office/drawing/2014/main" id="{5F967E9E-BFEF-5072-D7B5-CD218F5F30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400784"/>
            <a:ext cx="8229600" cy="4147288"/>
          </a:xfrm>
        </p:spPr>
      </p:pic>
    </p:spTree>
    <p:extLst>
      <p:ext uri="{BB962C8B-B14F-4D97-AF65-F5344CB8AC3E}">
        <p14:creationId xmlns:p14="http://schemas.microsoft.com/office/powerpoint/2010/main" val="28935218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A7A88-95A4-63A5-D863-3D26163F2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Job sectors</a:t>
            </a:r>
          </a:p>
        </p:txBody>
      </p:sp>
      <p:pic>
        <p:nvPicPr>
          <p:cNvPr id="5" name="Content Placeholder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A667CDA-1093-CB5E-6DC9-93EE0484A3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070044"/>
            <a:ext cx="8528236" cy="4445540"/>
          </a:xfrm>
        </p:spPr>
      </p:pic>
    </p:spTree>
    <p:extLst>
      <p:ext uri="{BB962C8B-B14F-4D97-AF65-F5344CB8AC3E}">
        <p14:creationId xmlns:p14="http://schemas.microsoft.com/office/powerpoint/2010/main" val="1815454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9C82A-18FA-1614-87E4-8CCC52781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Top 10 companies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1DBDCE9-E7E3-9A7A-B926-F61740275F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566153"/>
            <a:ext cx="8229600" cy="3810441"/>
          </a:xfrm>
        </p:spPr>
      </p:pic>
    </p:spTree>
    <p:extLst>
      <p:ext uri="{BB962C8B-B14F-4D97-AF65-F5344CB8AC3E}">
        <p14:creationId xmlns:p14="http://schemas.microsoft.com/office/powerpoint/2010/main" val="1606491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726C2-9952-54B7-17AA-2A7E64A9A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88400"/>
          </a:xfrm>
        </p:spPr>
        <p:txBody>
          <a:bodyPr>
            <a:normAutofit fontScale="90000"/>
          </a:bodyPr>
          <a:lstStyle/>
          <a:p>
            <a:r>
              <a:rPr lang="pl-PL" dirty="0"/>
              <a:t>Job offer locations</a:t>
            </a:r>
          </a:p>
        </p:txBody>
      </p:sp>
      <p:pic>
        <p:nvPicPr>
          <p:cNvPr id="5" name="Content Placeholder 4" descr="A graph of a graph&#10;&#10;AI-generated content may be incorrect.">
            <a:extLst>
              <a:ext uri="{FF2B5EF4-FFF2-40B4-BE49-F238E27FC236}">
                <a16:creationId xmlns:a16="http://schemas.microsoft.com/office/drawing/2014/main" id="{CD320B4F-361D-18DE-53CE-A19828F0E5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128409"/>
            <a:ext cx="8229600" cy="4291192"/>
          </a:xfrm>
        </p:spPr>
      </p:pic>
    </p:spTree>
    <p:extLst>
      <p:ext uri="{BB962C8B-B14F-4D97-AF65-F5344CB8AC3E}">
        <p14:creationId xmlns:p14="http://schemas.microsoft.com/office/powerpoint/2010/main" val="27868846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D31FA-8698-582A-86B7-EAEB144E2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Top 10 sector skills</a:t>
            </a:r>
          </a:p>
        </p:txBody>
      </p:sp>
      <p:pic>
        <p:nvPicPr>
          <p:cNvPr id="5" name="Content Placeholder 4" descr="A graph of a bar graph&#10;&#10;AI-generated content may be incorrect.">
            <a:extLst>
              <a:ext uri="{FF2B5EF4-FFF2-40B4-BE49-F238E27FC236}">
                <a16:creationId xmlns:a16="http://schemas.microsoft.com/office/drawing/2014/main" id="{4B1D40B8-A1F9-DB56-6516-5037EE189F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417639"/>
            <a:ext cx="8229600" cy="4329850"/>
          </a:xfrm>
        </p:spPr>
      </p:pic>
    </p:spTree>
    <p:extLst>
      <p:ext uri="{BB962C8B-B14F-4D97-AF65-F5344CB8AC3E}">
        <p14:creationId xmlns:p14="http://schemas.microsoft.com/office/powerpoint/2010/main" val="2535598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20789-1AA3-98A6-670C-97EE7A5B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Search for dream job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BF2C7C-BE8E-1686-B121-1D5D8D65C5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585609"/>
            <a:ext cx="8229600" cy="4014494"/>
          </a:xfrm>
        </p:spPr>
      </p:pic>
    </p:spTree>
    <p:extLst>
      <p:ext uri="{BB962C8B-B14F-4D97-AF65-F5344CB8AC3E}">
        <p14:creationId xmlns:p14="http://schemas.microsoft.com/office/powerpoint/2010/main" val="2017734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B617601-5D57-4609-5521-0AC782C365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719153"/>
          </a:xfrm>
        </p:spPr>
      </p:pic>
    </p:spTree>
    <p:extLst>
      <p:ext uri="{BB962C8B-B14F-4D97-AF65-F5344CB8AC3E}">
        <p14:creationId xmlns:p14="http://schemas.microsoft.com/office/powerpoint/2010/main" val="5524822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What’s Next?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dirty="0"/>
              <a:t>skills for all sectors/categories </a:t>
            </a:r>
          </a:p>
          <a:p>
            <a:r>
              <a:rPr lang="en-US" dirty="0"/>
              <a:t>NLP-based enrichment (e.g., embeddings for jobs/skills)</a:t>
            </a:r>
            <a:endParaRPr lang="pl-PL" dirty="0"/>
          </a:p>
          <a:p>
            <a:r>
              <a:rPr lang="pl-PL" dirty="0"/>
              <a:t>Integration of other APIs</a:t>
            </a:r>
          </a:p>
          <a:p>
            <a:r>
              <a:rPr lang="pl-PL" dirty="0"/>
              <a:t>Other data sets eg. average salaries, living costs, seniority etc.</a:t>
            </a:r>
          </a:p>
          <a:p>
            <a:r>
              <a:rPr lang="pl-PL"/>
              <a:t>Other languages offers (not only EN)</a:t>
            </a:r>
            <a:endParaRPr lang="pl-PL" dirty="0"/>
          </a:p>
          <a:p>
            <a:r>
              <a:rPr lang="pl-PL" dirty="0"/>
              <a:t>Going to cloud</a:t>
            </a:r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393</Words>
  <Application>Microsoft Office PowerPoint</Application>
  <PresentationFormat>On-screen Show (4:3)</PresentationFormat>
  <Paragraphs>52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Job Offers Data Processing and Analysis System (Muse API)</vt:lpstr>
      <vt:lpstr>Objectives</vt:lpstr>
      <vt:lpstr>Component Communication Architecture</vt:lpstr>
      <vt:lpstr>PowerPoint Presentation</vt:lpstr>
      <vt:lpstr>Communication between components</vt:lpstr>
      <vt:lpstr>Data Flow in the System</vt:lpstr>
      <vt:lpstr>PowerPoint Presentation</vt:lpstr>
      <vt:lpstr>Job Data Enrichment Process</vt:lpstr>
      <vt:lpstr>Elasticsearch enrichment process</vt:lpstr>
      <vt:lpstr>Automation with Airflow</vt:lpstr>
      <vt:lpstr>PowerPoint Presentation</vt:lpstr>
      <vt:lpstr>Dash – Interactive Visualization</vt:lpstr>
      <vt:lpstr>Job ofers - daily</vt:lpstr>
      <vt:lpstr>Job sectors</vt:lpstr>
      <vt:lpstr>Top 10 companies</vt:lpstr>
      <vt:lpstr>Job offer locations</vt:lpstr>
      <vt:lpstr>Top 10 sector skills</vt:lpstr>
      <vt:lpstr>Search for dream job</vt:lpstr>
      <vt:lpstr>PowerPoint Presentation</vt:lpstr>
      <vt:lpstr>What’s Next?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piechu</dc:creator>
  <cp:keywords/>
  <dc:description>generated using python-pptx</dc:description>
  <cp:lastModifiedBy>Mieszko Misztal</cp:lastModifiedBy>
  <cp:revision>6</cp:revision>
  <dcterms:created xsi:type="dcterms:W3CDTF">2013-01-27T09:14:16Z</dcterms:created>
  <dcterms:modified xsi:type="dcterms:W3CDTF">2025-07-10T10:59:41Z</dcterms:modified>
  <cp:category/>
</cp:coreProperties>
</file>